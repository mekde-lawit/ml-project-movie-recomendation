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76" r:id="rId5"/>
    <p:sldId id="277" r:id="rId6"/>
    <p:sldId id="261" r:id="rId7"/>
    <p:sldId id="265" r:id="rId8"/>
    <p:sldId id="266" r:id="rId9"/>
    <p:sldId id="267" r:id="rId10"/>
    <p:sldId id="269" r:id="rId11"/>
    <p:sldId id="270" r:id="rId12"/>
    <p:sldId id="27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-67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2426" y="1244097"/>
            <a:ext cx="7543800" cy="2593975"/>
          </a:xfrm>
        </p:spPr>
        <p:txBody>
          <a:bodyPr/>
          <a:lstStyle/>
          <a:p>
            <a:r>
              <a:rPr dirty="0"/>
              <a:t>Hybrid Movie </a:t>
            </a:r>
            <a:r>
              <a:rPr dirty="0" smtClean="0"/>
              <a:t>Recommend</a:t>
            </a:r>
            <a:r>
              <a:rPr lang="en-US" dirty="0" smtClean="0"/>
              <a:t>ation</a:t>
            </a:r>
            <a:r>
              <a:rPr dirty="0" smtClean="0"/>
              <a:t> </a:t>
            </a:r>
            <a:r>
              <a:rPr dirty="0"/>
              <a:t>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055952"/>
            <a:ext cx="6461760" cy="1582848"/>
          </a:xfrm>
        </p:spPr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dirty="0" smtClean="0"/>
              <a:t>Overview</a:t>
            </a:r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A</a:t>
            </a:r>
            <a:r>
              <a:rPr dirty="0" smtClean="0"/>
              <a:t>rchitecture</a:t>
            </a:r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A</a:t>
            </a:r>
            <a:r>
              <a:rPr dirty="0" smtClean="0"/>
              <a:t>lgorithms</a:t>
            </a:r>
            <a:endParaRPr lang="en-US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dirty="0" smtClean="0"/>
              <a:t>R</a:t>
            </a:r>
            <a:r>
              <a:rPr dirty="0" smtClean="0"/>
              <a:t>ecommendation </a:t>
            </a:r>
            <a:r>
              <a:rPr dirty="0"/>
              <a:t>process.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8886"/>
            <a:ext cx="7620000" cy="669957"/>
          </a:xfrm>
        </p:spPr>
        <p:txBody>
          <a:bodyPr/>
          <a:lstStyle/>
          <a:p>
            <a:r>
              <a:rPr lang="en-US" sz="3600" b="1" dirty="0"/>
              <a:t>What are Recommender Systems?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843"/>
            <a:ext cx="7620000" cy="4864270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 smtClean="0"/>
              <a:t>It an Information </a:t>
            </a:r>
            <a:r>
              <a:rPr lang="en-US" dirty="0"/>
              <a:t>filtering systems that predict user preferences and suggest relevant </a:t>
            </a:r>
            <a:r>
              <a:rPr lang="en-US" dirty="0" smtClean="0"/>
              <a:t>items.</a:t>
            </a:r>
          </a:p>
          <a:p>
            <a:endParaRPr lang="en-US" dirty="0" smtClean="0"/>
          </a:p>
          <a:p>
            <a:r>
              <a:rPr lang="en-US" b="1" dirty="0" smtClean="0"/>
              <a:t> </a:t>
            </a:r>
            <a:r>
              <a:rPr lang="en-US" b="1" dirty="0"/>
              <a:t>Why They Matter</a:t>
            </a:r>
            <a:r>
              <a:rPr lang="en-US" dirty="0"/>
              <a:t> 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 </a:t>
            </a:r>
            <a:r>
              <a:rPr lang="en-US" b="1" dirty="0" smtClean="0"/>
              <a:t>Revenue Impact: </a:t>
            </a:r>
            <a:r>
              <a:rPr lang="en-US" dirty="0" smtClean="0"/>
              <a:t>35</a:t>
            </a:r>
            <a:r>
              <a:rPr lang="en-US" dirty="0"/>
              <a:t>% of Amazon's revenue comes from recommendations </a:t>
            </a:r>
            <a:endParaRPr lang="en-US" dirty="0" smtClean="0"/>
          </a:p>
          <a:p>
            <a:pPr lvl="1"/>
            <a:r>
              <a:rPr lang="en-US" b="1" dirty="0" smtClean="0"/>
              <a:t>User Engagement:</a:t>
            </a:r>
            <a:r>
              <a:rPr lang="en-US" dirty="0" smtClean="0"/>
              <a:t> </a:t>
            </a:r>
            <a:r>
              <a:rPr lang="en-US" dirty="0"/>
              <a:t>Increase user retention and </a:t>
            </a:r>
            <a:r>
              <a:rPr lang="en-US" dirty="0" smtClean="0"/>
              <a:t>satisfaction</a:t>
            </a:r>
          </a:p>
          <a:p>
            <a:pPr lvl="1"/>
            <a:r>
              <a:rPr lang="en-US" b="1" dirty="0" smtClean="0"/>
              <a:t>Discovery</a:t>
            </a:r>
            <a:r>
              <a:rPr lang="en-US" dirty="0" smtClean="0"/>
              <a:t>: </a:t>
            </a:r>
            <a:r>
              <a:rPr lang="en-US" dirty="0"/>
              <a:t>Help users find relevant content among millions of options 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b="1" dirty="0"/>
              <a:t>Real-World </a:t>
            </a:r>
            <a:r>
              <a:rPr lang="en-US" b="1" dirty="0" smtClean="0"/>
              <a:t>Examples</a:t>
            </a:r>
          </a:p>
          <a:p>
            <a:pPr lvl="1"/>
            <a:r>
              <a:rPr lang="en-US" b="1" dirty="0" smtClean="0"/>
              <a:t>Netflix</a:t>
            </a:r>
            <a:r>
              <a:rPr lang="en-US" dirty="0" smtClean="0"/>
              <a:t>: </a:t>
            </a:r>
            <a:r>
              <a:rPr lang="en-US" dirty="0"/>
              <a:t>80% of watched content comes from </a:t>
            </a:r>
            <a:r>
              <a:rPr lang="en-US" dirty="0" smtClean="0"/>
              <a:t>recommendations</a:t>
            </a:r>
          </a:p>
          <a:p>
            <a:pPr lvl="1"/>
            <a:r>
              <a:rPr lang="en-US" b="1" dirty="0" smtClean="0"/>
              <a:t>Amazon</a:t>
            </a:r>
            <a:r>
              <a:rPr lang="en-US" dirty="0" smtClean="0"/>
              <a:t>: </a:t>
            </a:r>
            <a:r>
              <a:rPr lang="en-US" dirty="0"/>
              <a:t>Personalized product </a:t>
            </a:r>
            <a:r>
              <a:rPr lang="en-US" dirty="0" smtClean="0"/>
              <a:t>suggestions</a:t>
            </a:r>
          </a:p>
          <a:p>
            <a:pPr lvl="1"/>
            <a:r>
              <a:rPr lang="en-US" b="1" dirty="0" err="1" smtClean="0"/>
              <a:t>Spotify</a:t>
            </a:r>
            <a:r>
              <a:rPr lang="en-US" dirty="0" smtClean="0"/>
              <a:t>: </a:t>
            </a:r>
            <a:r>
              <a:rPr lang="en-US" dirty="0"/>
              <a:t>Discover Weekly playlists </a:t>
            </a:r>
            <a:endParaRPr lang="en-US" dirty="0" smtClean="0"/>
          </a:p>
          <a:p>
            <a:pPr lvl="1"/>
            <a:r>
              <a:rPr lang="en-US" b="1" dirty="0" smtClean="0"/>
              <a:t>YouTube</a:t>
            </a:r>
            <a:r>
              <a:rPr lang="en-US" dirty="0" smtClean="0"/>
              <a:t>: </a:t>
            </a:r>
            <a:r>
              <a:rPr lang="en-US" dirty="0"/>
              <a:t>Related videos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2318"/>
            <a:ext cx="7620000" cy="1010134"/>
          </a:xfrm>
        </p:spPr>
        <p:txBody>
          <a:bodyPr/>
          <a:lstStyle/>
          <a:p>
            <a:r>
              <a:rPr lang="en-US" sz="4000" b="1" dirty="0"/>
              <a:t>Types of Recommender Systems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1296"/>
            <a:ext cx="7620000" cy="4562061"/>
          </a:xfrm>
        </p:spPr>
        <p:txBody>
          <a:bodyPr>
            <a:normAutofit/>
          </a:bodyPr>
          <a:lstStyle/>
          <a:p>
            <a:r>
              <a:rPr lang="en-US" dirty="0" smtClean="0"/>
              <a:t>1. Content-Based </a:t>
            </a:r>
            <a:r>
              <a:rPr lang="en-US" dirty="0"/>
              <a:t>Filtering </a:t>
            </a:r>
            <a:r>
              <a:rPr lang="en-US" dirty="0" smtClean="0"/>
              <a:t>: "</a:t>
            </a:r>
            <a:r>
              <a:rPr lang="en-US" dirty="0"/>
              <a:t>If you liked this, you'll like similar items</a:t>
            </a:r>
            <a:r>
              <a:rPr lang="en-US" dirty="0" smtClean="0"/>
              <a:t>" </a:t>
            </a:r>
            <a:endParaRPr lang="en-US" dirty="0"/>
          </a:p>
          <a:p>
            <a:r>
              <a:rPr lang="en-US" dirty="0"/>
              <a:t>User → Item Features → Similar Items → Recommendations</a:t>
            </a:r>
          </a:p>
          <a:p>
            <a:pPr lvl="1"/>
            <a:r>
              <a:rPr lang="en-US" b="1" dirty="0" smtClean="0"/>
              <a:t>How</a:t>
            </a:r>
            <a:r>
              <a:rPr lang="en-US" dirty="0" smtClean="0"/>
              <a:t>: </a:t>
            </a:r>
            <a:r>
              <a:rPr lang="en-US" dirty="0"/>
              <a:t>Uses item attributes/features </a:t>
            </a:r>
            <a:endParaRPr lang="en-US" dirty="0" smtClean="0"/>
          </a:p>
          <a:p>
            <a:r>
              <a:rPr lang="en-US" dirty="0" smtClean="0"/>
              <a:t>2</a:t>
            </a:r>
            <a:r>
              <a:rPr lang="en-US" dirty="0"/>
              <a:t>. Collaborative Filtering </a:t>
            </a:r>
            <a:r>
              <a:rPr lang="en-US" dirty="0" smtClean="0"/>
              <a:t>:  "</a:t>
            </a:r>
            <a:r>
              <a:rPr lang="en-US" dirty="0"/>
              <a:t>Users who liked this also liked</a:t>
            </a:r>
            <a:r>
              <a:rPr lang="en-US" dirty="0" smtClean="0"/>
              <a:t>..." </a:t>
            </a:r>
            <a:endParaRPr lang="en-US" dirty="0"/>
          </a:p>
          <a:p>
            <a:r>
              <a:rPr lang="en-US" dirty="0"/>
              <a:t>Users → Ratings Matrix → Similar Users → Recommendations</a:t>
            </a:r>
          </a:p>
          <a:p>
            <a:pPr lvl="1"/>
            <a:r>
              <a:rPr lang="en-US" dirty="0" smtClean="0"/>
              <a:t> </a:t>
            </a:r>
            <a:r>
              <a:rPr lang="en-US" b="1" dirty="0" smtClean="0"/>
              <a:t>How</a:t>
            </a:r>
            <a:r>
              <a:rPr lang="en-US" dirty="0" smtClean="0"/>
              <a:t>: </a:t>
            </a:r>
            <a:r>
              <a:rPr lang="en-US" dirty="0"/>
              <a:t>Uses user-item interaction patterns </a:t>
            </a:r>
            <a:endParaRPr lang="en-US" dirty="0" smtClean="0"/>
          </a:p>
          <a:p>
            <a:r>
              <a:rPr lang="en-US" dirty="0" smtClean="0"/>
              <a:t>3</a:t>
            </a:r>
            <a:r>
              <a:rPr lang="en-US" dirty="0"/>
              <a:t>. Hybrid Approach </a:t>
            </a:r>
            <a:r>
              <a:rPr lang="en-US" dirty="0" smtClean="0"/>
              <a:t>: Combines </a:t>
            </a:r>
            <a:r>
              <a:rPr lang="en-US" dirty="0"/>
              <a:t>both approaches for better </a:t>
            </a:r>
            <a:r>
              <a:rPr lang="en-US" dirty="0" smtClean="0"/>
              <a:t>results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Algorithms Used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035375"/>
              </p:ext>
            </p:extLst>
          </p:nvPr>
        </p:nvGraphicFramePr>
        <p:xfrm>
          <a:off x="457200" y="1600200"/>
          <a:ext cx="762000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Component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Algorithm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 Purpose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Content Filtering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TF-IDF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Convert text to vectors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Content Filtering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Cosine Similarity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Measure movie similarity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Collaborative Filtering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K-Means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Cluster users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Collaborative Filtering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KNN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 similar users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163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09336"/>
          </a:xfrm>
        </p:spPr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3243"/>
            <a:ext cx="7620000" cy="5297557"/>
          </a:xfrm>
        </p:spPr>
        <p:txBody>
          <a:bodyPr/>
          <a:lstStyle/>
          <a:p>
            <a:r>
              <a:rPr lang="en-US" sz="2000" dirty="0" smtClean="0"/>
              <a:t>Source:</a:t>
            </a:r>
          </a:p>
          <a:p>
            <a:pPr lvl="1"/>
            <a:r>
              <a:rPr lang="en-US" sz="1800" dirty="0" smtClean="0"/>
              <a:t> </a:t>
            </a:r>
            <a:r>
              <a:rPr lang="en-US" sz="1800" dirty="0" err="1"/>
              <a:t>MovieLens</a:t>
            </a:r>
            <a:r>
              <a:rPr lang="en-US" sz="1800" dirty="0"/>
              <a:t> 100K Dataset </a:t>
            </a:r>
            <a:endParaRPr lang="en-US" sz="1800" dirty="0" smtClean="0"/>
          </a:p>
          <a:p>
            <a:pPr lvl="1"/>
            <a:r>
              <a:rPr lang="en-US" sz="1800" dirty="0" smtClean="0"/>
              <a:t>Type: </a:t>
            </a:r>
            <a:r>
              <a:rPr lang="en-US" sz="1800" dirty="0"/>
              <a:t>Explicit ratings (1-5 stars) </a:t>
            </a:r>
            <a:endParaRPr lang="en-US" sz="1800" dirty="0" smtClean="0"/>
          </a:p>
          <a:p>
            <a:pPr lvl="1"/>
            <a:r>
              <a:rPr lang="en-US" sz="1800" dirty="0" smtClean="0"/>
              <a:t>Size: </a:t>
            </a:r>
            <a:r>
              <a:rPr lang="en-US" sz="1800" dirty="0"/>
              <a:t>~100,000 ratings </a:t>
            </a:r>
            <a:endParaRPr lang="en-US" sz="1800" dirty="0" smtClean="0"/>
          </a:p>
          <a:p>
            <a:pPr lvl="1"/>
            <a:r>
              <a:rPr lang="en-US" sz="1800" dirty="0" smtClean="0"/>
              <a:t>Users: </a:t>
            </a:r>
            <a:r>
              <a:rPr lang="en-US" sz="1800" dirty="0"/>
              <a:t>~600 </a:t>
            </a:r>
            <a:r>
              <a:rPr lang="en-US" sz="1800" dirty="0" smtClean="0"/>
              <a:t>users</a:t>
            </a:r>
          </a:p>
          <a:p>
            <a:pPr lvl="1"/>
            <a:r>
              <a:rPr lang="en-US" sz="1800" dirty="0" smtClean="0"/>
              <a:t>Movies: </a:t>
            </a:r>
            <a:r>
              <a:rPr lang="en-US" sz="1800" dirty="0"/>
              <a:t>~9,000 </a:t>
            </a:r>
            <a:r>
              <a:rPr lang="en-US" sz="1800" dirty="0" smtClean="0"/>
              <a:t>movies</a:t>
            </a:r>
          </a:p>
          <a:p>
            <a:r>
              <a:rPr lang="en-US" dirty="0"/>
              <a:t>Data </a:t>
            </a:r>
            <a:r>
              <a:rPr lang="en-US" dirty="0" smtClean="0"/>
              <a:t>Structure</a:t>
            </a:r>
          </a:p>
          <a:p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743526"/>
              </p:ext>
            </p:extLst>
          </p:nvPr>
        </p:nvGraphicFramePr>
        <p:xfrm>
          <a:off x="526774" y="3576762"/>
          <a:ext cx="7325139" cy="14630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30017"/>
                <a:gridCol w="2544418"/>
                <a:gridCol w="3150704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movieId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title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genres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Toy Story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Animation|Adventure|Comedy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2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Jumanji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Adventure|Fantasy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3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The Godfather</a:t>
                      </a:r>
                      <a:endParaRPr lang="en-US" sz="14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effectLst/>
                        </a:rPr>
                        <a:t>Crime|Drama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984476"/>
              </p:ext>
            </p:extLst>
          </p:nvPr>
        </p:nvGraphicFramePr>
        <p:xfrm>
          <a:off x="526774" y="5248855"/>
          <a:ext cx="7308573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67490"/>
                <a:gridCol w="1880361"/>
                <a:gridCol w="1880361"/>
                <a:gridCol w="1880361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>
                          <a:effectLst/>
                        </a:rPr>
                        <a:t>userId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movieId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rating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timestamp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5.0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964982703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2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4.0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964982704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06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7687"/>
            <a:ext cx="7620000" cy="705678"/>
          </a:xfrm>
        </p:spPr>
        <p:txBody>
          <a:bodyPr/>
          <a:lstStyle/>
          <a:p>
            <a:r>
              <a:rPr lang="en-US" sz="3600" b="1" dirty="0"/>
              <a:t>Content-Based Filtering - </a:t>
            </a:r>
            <a:r>
              <a:rPr lang="en-US" sz="3600" b="1" dirty="0" smtClean="0"/>
              <a:t>TF-IDF &amp; </a:t>
            </a:r>
            <a:r>
              <a:rPr lang="en-US" sz="3600" b="1" dirty="0"/>
              <a:t>Cosine Similarity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2148"/>
            <a:ext cx="7620000" cy="51186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TF-IDF - Term </a:t>
            </a:r>
            <a:r>
              <a:rPr lang="en-US" b="1" dirty="0"/>
              <a:t>Frequency - Inverse Document </a:t>
            </a:r>
            <a:r>
              <a:rPr lang="en-US" b="1" dirty="0" smtClean="0"/>
              <a:t>Frequency</a:t>
            </a:r>
          </a:p>
          <a:p>
            <a:r>
              <a:rPr lang="en-US" b="1" dirty="0" smtClean="0"/>
              <a:t> </a:t>
            </a:r>
            <a:r>
              <a:rPr lang="en-US" b="1" dirty="0"/>
              <a:t>Mathematical Formula</a:t>
            </a:r>
            <a:endParaRPr lang="en-US" dirty="0"/>
          </a:p>
          <a:p>
            <a:pPr lvl="1"/>
            <a:r>
              <a:rPr lang="en-US" dirty="0"/>
              <a:t>TF-IDF(t, d) = TF(t, d) × IDF(t)</a:t>
            </a:r>
          </a:p>
          <a:p>
            <a:pPr lvl="1"/>
            <a:r>
              <a:rPr lang="en-US" dirty="0"/>
              <a:t>Where:</a:t>
            </a:r>
          </a:p>
          <a:p>
            <a:pPr lvl="2"/>
            <a:r>
              <a:rPr lang="en-US" dirty="0"/>
              <a:t>TF(t, d) = Frequency of term t in document d</a:t>
            </a:r>
          </a:p>
          <a:p>
            <a:pPr lvl="2"/>
            <a:r>
              <a:rPr lang="en-US" dirty="0"/>
              <a:t>IDF(t) = log(N / DF(t))</a:t>
            </a:r>
          </a:p>
          <a:p>
            <a:pPr lvl="3"/>
            <a:r>
              <a:rPr lang="en-US" dirty="0"/>
              <a:t>N = Total documents</a:t>
            </a:r>
          </a:p>
          <a:p>
            <a:pPr lvl="3"/>
            <a:r>
              <a:rPr lang="en-US" dirty="0"/>
              <a:t>DF(t) = Number of documents containing term </a:t>
            </a:r>
            <a:r>
              <a:rPr lang="en-US" dirty="0" smtClean="0"/>
              <a:t>t</a:t>
            </a:r>
          </a:p>
          <a:p>
            <a:pPr lvl="1"/>
            <a:endParaRPr lang="en-US" dirty="0"/>
          </a:p>
          <a:p>
            <a:r>
              <a:rPr lang="en-US" b="1" dirty="0" smtClean="0"/>
              <a:t>Cosine Similarity</a:t>
            </a:r>
          </a:p>
          <a:p>
            <a:r>
              <a:rPr lang="en-US" dirty="0" smtClean="0"/>
              <a:t>Measures </a:t>
            </a:r>
            <a:r>
              <a:rPr lang="en-US" dirty="0"/>
              <a:t>similarity between two vectors using the cosine of the angle between </a:t>
            </a:r>
            <a:r>
              <a:rPr lang="en-US" dirty="0" smtClean="0"/>
              <a:t>them</a:t>
            </a:r>
          </a:p>
          <a:p>
            <a:r>
              <a:rPr lang="en-US" b="1" dirty="0" smtClean="0"/>
              <a:t>Mathematical </a:t>
            </a:r>
            <a:r>
              <a:rPr lang="en-US" b="1" dirty="0"/>
              <a:t>Formula</a:t>
            </a:r>
            <a:endParaRPr lang="en-US" dirty="0"/>
          </a:p>
          <a:p>
            <a:pPr lvl="1"/>
            <a:r>
              <a:rPr lang="en-US" dirty="0" err="1"/>
              <a:t>cos</a:t>
            </a:r>
            <a:r>
              <a:rPr lang="en-US" dirty="0"/>
              <a:t>(θ) = (A · B) / (||A|| ||B||)</a:t>
            </a:r>
          </a:p>
          <a:p>
            <a:pPr lvl="1"/>
            <a:r>
              <a:rPr lang="en-US" dirty="0"/>
              <a:t>Where:</a:t>
            </a:r>
          </a:p>
          <a:p>
            <a:pPr lvl="2"/>
            <a:r>
              <a:rPr lang="en-US" dirty="0"/>
              <a:t>A, B are vectors</a:t>
            </a:r>
          </a:p>
          <a:p>
            <a:pPr lvl="2"/>
            <a:r>
              <a:rPr lang="en-US" dirty="0"/>
              <a:t>||A|| is the magnitude (length) of vector A</a:t>
            </a:r>
          </a:p>
          <a:p>
            <a:pPr lvl="2"/>
            <a:r>
              <a:rPr lang="en-US" dirty="0"/>
              <a:t>0 ≤ </a:t>
            </a:r>
            <a:r>
              <a:rPr lang="en-US" dirty="0" err="1"/>
              <a:t>cos</a:t>
            </a:r>
            <a:r>
              <a:rPr lang="en-US" dirty="0"/>
              <a:t>(θ) ≤ 1 (for positive vectors)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808727"/>
          </a:xfrm>
        </p:spPr>
        <p:txBody>
          <a:bodyPr/>
          <a:lstStyle/>
          <a:p>
            <a:r>
              <a:rPr lang="en-US" sz="3200" b="1" dirty="0"/>
              <a:t>Collaborative </a:t>
            </a:r>
            <a:r>
              <a:rPr lang="en-US" sz="3200" b="1" dirty="0" smtClean="0"/>
              <a:t>Filtering-</a:t>
            </a:r>
            <a:r>
              <a:rPr sz="3200" dirty="0" err="1" smtClean="0"/>
              <a:t>KMeans</a:t>
            </a:r>
            <a:r>
              <a:rPr sz="3200" dirty="0" smtClean="0"/>
              <a:t> </a:t>
            </a:r>
            <a:r>
              <a:rPr sz="3200" dirty="0"/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2330"/>
            <a:ext cx="7620000" cy="5148470"/>
          </a:xfrm>
        </p:spPr>
        <p:txBody>
          <a:bodyPr>
            <a:normAutofit/>
          </a:bodyPr>
          <a:lstStyle/>
          <a:p>
            <a:r>
              <a:rPr lang="en-US" b="1" dirty="0" smtClean="0"/>
              <a:t>What </a:t>
            </a:r>
            <a:r>
              <a:rPr lang="en-US" b="1" dirty="0"/>
              <a:t>is K-Means</a:t>
            </a:r>
            <a:r>
              <a:rPr lang="en-US" b="1" dirty="0" smtClean="0"/>
              <a:t>?</a:t>
            </a:r>
          </a:p>
          <a:p>
            <a:pPr lvl="1"/>
            <a:r>
              <a:rPr lang="en-US" dirty="0" smtClean="0"/>
              <a:t>Unsupervised learning algorithm that partitions users into K clusters </a:t>
            </a:r>
          </a:p>
          <a:p>
            <a:r>
              <a:rPr lang="en-US" b="1" dirty="0" smtClean="0"/>
              <a:t>Algorithm </a:t>
            </a:r>
            <a:r>
              <a:rPr lang="en-US" b="1" dirty="0"/>
              <a:t>Steps</a:t>
            </a:r>
            <a:endParaRPr lang="en-US" dirty="0"/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Initialize K cluster centers (randomly)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Assign each user to nearest center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Recalculate centers (mean of cluster)</a:t>
            </a:r>
          </a:p>
          <a:p>
            <a:pPr marL="868680" lvl="1" indent="-457200">
              <a:buFont typeface="+mj-lt"/>
              <a:buAutoNum type="arabicPeriod"/>
            </a:pPr>
            <a:r>
              <a:rPr lang="en-US" dirty="0"/>
              <a:t>Repeat steps 2-3 until </a:t>
            </a:r>
            <a:r>
              <a:rPr lang="en-US" dirty="0" smtClean="0"/>
              <a:t>convergence</a:t>
            </a:r>
          </a:p>
          <a:p>
            <a:pPr marL="868680" lvl="1" indent="-457200">
              <a:buFont typeface="+mj-lt"/>
              <a:buAutoNum type="arabicPeriod"/>
            </a:pPr>
            <a:endParaRPr lang="en-US" dirty="0" smtClean="0"/>
          </a:p>
          <a:p>
            <a:pPr marL="114300" indent="0">
              <a:buNone/>
            </a:pP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from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sklearn.cluster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import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KMeans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</a:t>
            </a:r>
            <a:endParaRPr lang="en-US" sz="1400" dirty="0" smtClean="0">
              <a:latin typeface="Source Code Pro Light" pitchFamily="49" charset="0"/>
              <a:ea typeface="Source Code Pro Light" pitchFamily="49" charset="0"/>
            </a:endParaRPr>
          </a:p>
          <a:p>
            <a:pPr marL="114300" indent="0">
              <a:buNone/>
            </a:pP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# 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Create K-Means model (5 clusters</a:t>
            </a: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)</a:t>
            </a:r>
          </a:p>
          <a:p>
            <a:pPr marL="114300" indent="0">
              <a:buNone/>
            </a:pP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kmeans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=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KMeans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(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n_clusters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=5,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random_state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=42,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n_init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=10 </a:t>
            </a: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)</a:t>
            </a:r>
          </a:p>
          <a:p>
            <a:pPr marL="114300" indent="0">
              <a:buNone/>
            </a:pP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 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# Cluster users based on rating patterns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user_clusters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=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kmeans.fit_predict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(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user_movie_matrix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)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user_movie_matrix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['cluster'] =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user_clusters</a:t>
            </a:r>
            <a:endParaRPr lang="en-US" sz="1400" dirty="0">
              <a:latin typeface="Source Code Pro Light" pitchFamily="49" charset="0"/>
              <a:ea typeface="Source Code Pro 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908119"/>
          </a:xfrm>
        </p:spPr>
        <p:txBody>
          <a:bodyPr/>
          <a:lstStyle/>
          <a:p>
            <a:r>
              <a:rPr lang="en-US" sz="3600" b="1" dirty="0"/>
              <a:t>Collaborative Filtering- </a:t>
            </a:r>
            <a:r>
              <a:rPr sz="3600" dirty="0" smtClean="0"/>
              <a:t>KNN </a:t>
            </a:r>
            <a:r>
              <a:rPr sz="3600" dirty="0"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2757"/>
            <a:ext cx="7620000" cy="5218043"/>
          </a:xfrm>
        </p:spPr>
        <p:txBody>
          <a:bodyPr>
            <a:normAutofit/>
          </a:bodyPr>
          <a:lstStyle/>
          <a:p>
            <a:r>
              <a:rPr lang="en-US" b="1" dirty="0"/>
              <a:t>What is K-Nearest Neighbors?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Finds </a:t>
            </a:r>
            <a:r>
              <a:rPr lang="en-US" dirty="0"/>
              <a:t>the K users most similar to a given user based on rating patterns </a:t>
            </a:r>
            <a:endParaRPr lang="en-US" dirty="0" smtClean="0"/>
          </a:p>
          <a:p>
            <a:r>
              <a:rPr lang="en-US" b="1" dirty="0" smtClean="0"/>
              <a:t>Implementation</a:t>
            </a:r>
            <a:r>
              <a:rPr lang="en-US" dirty="0" smtClean="0"/>
              <a:t> </a:t>
            </a:r>
          </a:p>
          <a:p>
            <a:r>
              <a:rPr lang="en-US" sz="1600" dirty="0" smtClean="0">
                <a:latin typeface="Source Code Pro Light" pitchFamily="49" charset="0"/>
                <a:ea typeface="Source Code Pro Light" pitchFamily="49" charset="0"/>
              </a:rPr>
              <a:t>from </a:t>
            </a:r>
            <a:r>
              <a:rPr lang="en-US" sz="1600" dirty="0" err="1">
                <a:latin typeface="Source Code Pro Light" pitchFamily="49" charset="0"/>
                <a:ea typeface="Source Code Pro Light" pitchFamily="49" charset="0"/>
              </a:rPr>
              <a:t>sklearn.neighbors</a:t>
            </a:r>
            <a:r>
              <a:rPr lang="en-US" sz="1600" dirty="0">
                <a:latin typeface="Source Code Pro Light" pitchFamily="49" charset="0"/>
                <a:ea typeface="Source Code Pro Light" pitchFamily="49" charset="0"/>
              </a:rPr>
              <a:t> import </a:t>
            </a:r>
            <a:r>
              <a:rPr lang="en-US" sz="1600" dirty="0" err="1">
                <a:latin typeface="Source Code Pro Light" pitchFamily="49" charset="0"/>
                <a:ea typeface="Source Code Pro Light" pitchFamily="49" charset="0"/>
              </a:rPr>
              <a:t>NearestNeighbors</a:t>
            </a:r>
            <a:r>
              <a:rPr lang="en-US" sz="1600" dirty="0">
                <a:latin typeface="Source Code Pro Light" pitchFamily="49" charset="0"/>
                <a:ea typeface="Source Code Pro Light" pitchFamily="49" charset="0"/>
              </a:rPr>
              <a:t> </a:t>
            </a:r>
            <a:endParaRPr lang="en-US" sz="1600" dirty="0" smtClean="0">
              <a:latin typeface="Source Code Pro Light" pitchFamily="49" charset="0"/>
              <a:ea typeface="Source Code Pro Light" pitchFamily="49" charset="0"/>
            </a:endParaRPr>
          </a:p>
          <a:p>
            <a:pPr marL="411480" lvl="1" indent="0">
              <a:buNone/>
            </a:pP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# 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Build KNN model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</a:t>
            </a:r>
            <a:endParaRPr lang="en-US" sz="1400" dirty="0" smtClean="0">
              <a:latin typeface="Source Code Pro Light" pitchFamily="49" charset="0"/>
              <a:ea typeface="Source Code Pro Light" pitchFamily="49" charset="0"/>
            </a:endParaRPr>
          </a:p>
          <a:p>
            <a:pPr marL="411480" lvl="1" indent="0">
              <a:buNone/>
            </a:pPr>
            <a:r>
              <a:rPr lang="en-US" sz="1400" dirty="0" err="1" smtClean="0">
                <a:latin typeface="Source Code Pro Light" pitchFamily="49" charset="0"/>
                <a:ea typeface="Source Code Pro Light" pitchFamily="49" charset="0"/>
              </a:rPr>
              <a:t>knn</a:t>
            </a: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 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=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NearestNeighbors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( </a:t>
            </a:r>
            <a:endParaRPr lang="en-US" sz="1400" dirty="0" smtClean="0">
              <a:latin typeface="Source Code Pro Light" pitchFamily="49" charset="0"/>
              <a:ea typeface="Source Code Pro Light" pitchFamily="49" charset="0"/>
            </a:endParaRPr>
          </a:p>
          <a:p>
            <a:pPr marL="411480" lvl="1" indent="0">
              <a:buNone/>
            </a:pP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metric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='cosine', # Use cosine similarity </a:t>
            </a:r>
            <a:endParaRPr lang="en-US" sz="1400" dirty="0" smtClean="0">
              <a:latin typeface="Source Code Pro Light" pitchFamily="49" charset="0"/>
              <a:ea typeface="Source Code Pro Light" pitchFamily="49" charset="0"/>
            </a:endParaRPr>
          </a:p>
          <a:p>
            <a:pPr marL="411480" lvl="1" indent="0">
              <a:buNone/>
            </a:pP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algorithm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='brute' # Brute force for small datasets </a:t>
            </a: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)</a:t>
            </a:r>
          </a:p>
          <a:p>
            <a:pPr marL="411480" lvl="1" indent="0">
              <a:buNone/>
            </a:pP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 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# Train on user-movie matrix (without cluster column)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user_features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=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user_movie_matrix.drop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('cluster', axis=1)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knn.fit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(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user_features</a:t>
            </a:r>
            <a:r>
              <a:rPr lang="en-US" sz="1400" dirty="0" smtClean="0">
                <a:latin typeface="Source Code Pro Light" pitchFamily="49" charset="0"/>
                <a:ea typeface="Source Code Pro Light" pitchFamily="49" charset="0"/>
              </a:rPr>
              <a:t>)</a:t>
            </a:r>
          </a:p>
          <a:p>
            <a:pPr marL="411480" lvl="1" indent="0">
              <a:buNone/>
            </a:pP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user_vector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 =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user_movie_matrix.loc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[1, :]</a:t>
            </a:r>
          </a:p>
          <a:p>
            <a:pPr marL="411480" lvl="1" indent="0">
              <a:buNone/>
            </a:pP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distances, indices =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knn.kneighbors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([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user_vector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], </a:t>
            </a:r>
            <a:r>
              <a:rPr lang="en-US" sz="1400" dirty="0" err="1">
                <a:latin typeface="Source Code Pro Light" pitchFamily="49" charset="0"/>
                <a:ea typeface="Source Code Pro Light" pitchFamily="49" charset="0"/>
              </a:rPr>
              <a:t>n_neighbors</a:t>
            </a:r>
            <a:r>
              <a:rPr lang="en-US" sz="1400" dirty="0">
                <a:latin typeface="Source Code Pro Light" pitchFamily="49" charset="0"/>
                <a:ea typeface="Source Code Pro Light" pitchFamily="49" charset="0"/>
              </a:rPr>
              <a:t>=6)</a:t>
            </a:r>
            <a:endParaRPr sz="1400" dirty="0">
              <a:latin typeface="Source Code Pro Light" pitchFamily="49" charset="0"/>
              <a:ea typeface="Source Code Pro 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Collaborative Filtering: Making </a:t>
            </a:r>
            <a:r>
              <a:rPr lang="en-US" sz="2800" b="1" dirty="0" smtClean="0"/>
              <a:t>Predictions</a:t>
            </a:r>
            <a:br>
              <a:rPr lang="en-US" sz="2800" b="1" dirty="0" smtClean="0"/>
            </a:br>
            <a:r>
              <a:rPr lang="en-US" sz="2800" b="1" dirty="0" smtClean="0"/>
              <a:t> </a:t>
            </a:r>
            <a:r>
              <a:rPr lang="en-US" sz="2800" b="1" dirty="0"/>
              <a:t>The Recommendation Process</a:t>
            </a:r>
            <a:endParaRPr lang="en-US" sz="2800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Step </a:t>
            </a:r>
            <a:r>
              <a:rPr lang="en-US" b="1" dirty="0"/>
              <a:t>1: Find Similar </a:t>
            </a:r>
            <a:r>
              <a:rPr lang="en-US" b="1" dirty="0" smtClean="0"/>
              <a:t>Get </a:t>
            </a:r>
            <a:r>
              <a:rPr lang="en-US" b="1" dirty="0"/>
              <a:t>user's rating vector</a:t>
            </a:r>
            <a:r>
              <a:rPr lang="en-US" dirty="0"/>
              <a:t> </a:t>
            </a:r>
            <a:endParaRPr lang="en-US" dirty="0" smtClean="0"/>
          </a:p>
          <a:p>
            <a:pPr marL="411480" lvl="1" indent="0">
              <a:buNone/>
            </a:pPr>
            <a:r>
              <a:rPr lang="en-US" dirty="0" err="1" smtClean="0"/>
              <a:t>user_vector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user_movie_matrix.loc</a:t>
            </a:r>
            <a:r>
              <a:rPr lang="en-US" dirty="0"/>
              <a:t>[</a:t>
            </a:r>
            <a:r>
              <a:rPr lang="en-US" dirty="0" err="1"/>
              <a:t>user_id</a:t>
            </a:r>
            <a:r>
              <a:rPr lang="en-US" dirty="0"/>
              <a:t>] </a:t>
            </a:r>
            <a:endParaRPr lang="en-US" dirty="0" smtClean="0"/>
          </a:p>
          <a:p>
            <a:pPr marL="411480" lvl="1" indent="0">
              <a:buNone/>
            </a:pPr>
            <a:r>
              <a:rPr lang="en-US" b="1" dirty="0" smtClean="0"/>
              <a:t># </a:t>
            </a:r>
            <a:r>
              <a:rPr lang="en-US" b="1" dirty="0"/>
              <a:t>Find 6 nearest neighbors</a:t>
            </a:r>
            <a:r>
              <a:rPr lang="en-US" dirty="0"/>
              <a:t> </a:t>
            </a:r>
            <a:endParaRPr lang="en-US" dirty="0" smtClean="0"/>
          </a:p>
          <a:p>
            <a:pPr marL="411480" lvl="1" indent="0">
              <a:buNone/>
            </a:pPr>
            <a:r>
              <a:rPr lang="en-US" dirty="0" smtClean="0"/>
              <a:t>distances</a:t>
            </a:r>
            <a:r>
              <a:rPr lang="en-US" dirty="0"/>
              <a:t>, indices = </a:t>
            </a:r>
            <a:r>
              <a:rPr lang="en-US" dirty="0" err="1"/>
              <a:t>knn.kneighbors</a:t>
            </a:r>
            <a:r>
              <a:rPr lang="en-US" dirty="0"/>
              <a:t>([</a:t>
            </a:r>
            <a:r>
              <a:rPr lang="en-US" dirty="0" err="1"/>
              <a:t>user_vector</a:t>
            </a:r>
            <a:r>
              <a:rPr lang="en-US" dirty="0"/>
              <a:t>], </a:t>
            </a:r>
            <a:r>
              <a:rPr lang="en-US" dirty="0" err="1"/>
              <a:t>n_neighbors</a:t>
            </a:r>
            <a:r>
              <a:rPr lang="en-US" dirty="0"/>
              <a:t>=6) </a:t>
            </a:r>
            <a:endParaRPr lang="en-US" dirty="0" smtClean="0"/>
          </a:p>
          <a:p>
            <a:pPr marL="411480" lvl="1" indent="0">
              <a:buNone/>
            </a:pPr>
            <a:r>
              <a:rPr lang="en-US" dirty="0" smtClean="0"/>
              <a:t>neighbors </a:t>
            </a:r>
            <a:r>
              <a:rPr lang="en-US" dirty="0"/>
              <a:t>= </a:t>
            </a:r>
            <a:r>
              <a:rPr lang="en-US" dirty="0" err="1"/>
              <a:t>user_movie_matrix.index</a:t>
            </a:r>
            <a:r>
              <a:rPr lang="en-US" dirty="0"/>
              <a:t>[</a:t>
            </a:r>
            <a:r>
              <a:rPr lang="en-US" dirty="0" err="1"/>
              <a:t>indices.flatten</a:t>
            </a:r>
            <a:r>
              <a:rPr lang="en-US" dirty="0"/>
              <a:t>()]</a:t>
            </a:r>
          </a:p>
          <a:p>
            <a:r>
              <a:rPr lang="en-US" b="1" dirty="0"/>
              <a:t>Step 2: Aggregate Ratings from Neighbors</a:t>
            </a:r>
          </a:p>
          <a:p>
            <a:r>
              <a:rPr lang="en-US" dirty="0" smtClean="0"/>
              <a:t> </a:t>
            </a:r>
            <a:r>
              <a:rPr lang="en-US" dirty="0"/>
              <a:t>Get ratings from similar users </a:t>
            </a:r>
            <a:endParaRPr lang="en-US" dirty="0" smtClean="0"/>
          </a:p>
          <a:p>
            <a:pPr marL="411480" lvl="1" indent="0">
              <a:buNone/>
            </a:pPr>
            <a:r>
              <a:rPr lang="en-US" sz="1800" dirty="0" err="1" smtClean="0"/>
              <a:t>neighbor_ratings</a:t>
            </a:r>
            <a:r>
              <a:rPr lang="en-US" sz="1800" dirty="0" smtClean="0"/>
              <a:t> </a:t>
            </a:r>
            <a:r>
              <a:rPr lang="en-US" sz="1800" dirty="0"/>
              <a:t>= ratings[ratings['</a:t>
            </a:r>
            <a:r>
              <a:rPr lang="en-US" sz="1800" dirty="0" err="1"/>
              <a:t>userId</a:t>
            </a:r>
            <a:r>
              <a:rPr lang="en-US" sz="1800" dirty="0"/>
              <a:t>'].</a:t>
            </a:r>
            <a:r>
              <a:rPr lang="en-US" sz="1800" dirty="0" err="1"/>
              <a:t>isin</a:t>
            </a:r>
            <a:r>
              <a:rPr lang="en-US" sz="1800" dirty="0"/>
              <a:t>(neighbors)] </a:t>
            </a:r>
            <a:endParaRPr lang="en-US" sz="1800" dirty="0" smtClean="0"/>
          </a:p>
          <a:p>
            <a:pPr marL="411480" lvl="1" indent="0">
              <a:buNone/>
            </a:pPr>
            <a:r>
              <a:rPr lang="en-US" sz="1800" dirty="0" smtClean="0"/>
              <a:t># </a:t>
            </a:r>
            <a:r>
              <a:rPr lang="en-US" sz="1800" dirty="0"/>
              <a:t>Calculate weighted scores </a:t>
            </a:r>
            <a:endParaRPr lang="en-US" sz="1800" dirty="0" smtClean="0"/>
          </a:p>
          <a:p>
            <a:pPr marL="411480" lvl="1" indent="0">
              <a:buNone/>
            </a:pPr>
            <a:r>
              <a:rPr lang="en-US" sz="1800" dirty="0" err="1" smtClean="0"/>
              <a:t>movie_scores</a:t>
            </a:r>
            <a:r>
              <a:rPr lang="en-US" sz="1800" dirty="0" smtClean="0"/>
              <a:t> </a:t>
            </a:r>
            <a:r>
              <a:rPr lang="en-US" sz="1800" dirty="0"/>
              <a:t>= </a:t>
            </a:r>
            <a:r>
              <a:rPr lang="en-US" sz="1800" dirty="0" err="1"/>
              <a:t>neighbor_ratings.groupby</a:t>
            </a:r>
            <a:r>
              <a:rPr lang="en-US" sz="1800" dirty="0"/>
              <a:t>('</a:t>
            </a:r>
            <a:r>
              <a:rPr lang="en-US" sz="1800" dirty="0" err="1"/>
              <a:t>movieId</a:t>
            </a:r>
            <a:r>
              <a:rPr lang="en-US" sz="1800" dirty="0"/>
              <a:t>').</a:t>
            </a:r>
            <a:r>
              <a:rPr lang="en-US" sz="1800" dirty="0" err="1"/>
              <a:t>agg</a:t>
            </a:r>
            <a:r>
              <a:rPr lang="en-US" sz="1800" dirty="0"/>
              <a:t>({ 'rating': ['mean', 'count'] }) </a:t>
            </a:r>
            <a:endParaRPr lang="en-US" sz="1800" dirty="0" smtClean="0"/>
          </a:p>
          <a:p>
            <a:pPr marL="411480" lvl="1" indent="0">
              <a:buNone/>
            </a:pPr>
            <a:r>
              <a:rPr lang="en-US" sz="1800" dirty="0" err="1" smtClean="0"/>
              <a:t>movie_scores</a:t>
            </a:r>
            <a:r>
              <a:rPr lang="en-US" sz="1800" dirty="0"/>
              <a:t>['score'] = </a:t>
            </a:r>
            <a:r>
              <a:rPr lang="en-US" sz="1800" dirty="0" err="1"/>
              <a:t>movie_scores</a:t>
            </a:r>
            <a:r>
              <a:rPr lang="en-US" sz="1800" dirty="0"/>
              <a:t>['</a:t>
            </a:r>
            <a:r>
              <a:rPr lang="en-US" sz="1800" dirty="0" err="1"/>
              <a:t>mean_rating</a:t>
            </a:r>
            <a:r>
              <a:rPr lang="en-US" sz="1800" dirty="0"/>
              <a:t>'] * np.log1p(</a:t>
            </a:r>
            <a:r>
              <a:rPr lang="en-US" sz="1800" dirty="0" err="1"/>
              <a:t>movie_scores</a:t>
            </a:r>
            <a:r>
              <a:rPr lang="en-US" sz="1800" dirty="0"/>
              <a:t>['</a:t>
            </a:r>
            <a:r>
              <a:rPr lang="en-US" sz="1800" dirty="0" err="1"/>
              <a:t>rating_count</a:t>
            </a:r>
            <a:r>
              <a:rPr lang="en-US" sz="1800" dirty="0"/>
              <a:t>'])</a:t>
            </a:r>
          </a:p>
          <a:p>
            <a:r>
              <a:rPr lang="en-US" b="1" dirty="0"/>
              <a:t>Step 3: Filter and Recommend</a:t>
            </a:r>
          </a:p>
          <a:p>
            <a:pPr marL="411480" lvl="1" indent="0">
              <a:buNone/>
            </a:pPr>
            <a:r>
              <a:rPr lang="en-US" dirty="0" smtClean="0"/>
              <a:t>Remove </a:t>
            </a:r>
            <a:r>
              <a:rPr lang="en-US" dirty="0"/>
              <a:t>movies user has already seen </a:t>
            </a:r>
            <a:endParaRPr lang="en-US" dirty="0" smtClean="0"/>
          </a:p>
          <a:p>
            <a:pPr marL="411480" lvl="1" indent="0">
              <a:buNone/>
            </a:pPr>
            <a:r>
              <a:rPr lang="en-US" dirty="0" err="1" smtClean="0"/>
              <a:t>user_rated</a:t>
            </a:r>
            <a:r>
              <a:rPr lang="en-US" dirty="0" smtClean="0"/>
              <a:t> </a:t>
            </a:r>
            <a:r>
              <a:rPr lang="en-US" dirty="0"/>
              <a:t>= ratings[ratings['</a:t>
            </a:r>
            <a:r>
              <a:rPr lang="en-US" dirty="0" err="1"/>
              <a:t>userId</a:t>
            </a:r>
            <a:r>
              <a:rPr lang="en-US" dirty="0"/>
              <a:t>'] == </a:t>
            </a:r>
            <a:r>
              <a:rPr lang="en-US" dirty="0" err="1"/>
              <a:t>user_id</a:t>
            </a:r>
            <a:r>
              <a:rPr lang="en-US" dirty="0"/>
              <a:t>]['</a:t>
            </a:r>
            <a:r>
              <a:rPr lang="en-US" dirty="0" err="1"/>
              <a:t>movieId</a:t>
            </a:r>
            <a:r>
              <a:rPr lang="en-US" dirty="0"/>
              <a:t>'] </a:t>
            </a:r>
            <a:endParaRPr lang="en-US" dirty="0" smtClean="0"/>
          </a:p>
          <a:p>
            <a:pPr marL="411480" lvl="1" indent="0">
              <a:buNone/>
            </a:pPr>
            <a:r>
              <a:rPr lang="en-US" dirty="0" smtClean="0"/>
              <a:t>unseen </a:t>
            </a:r>
            <a:r>
              <a:rPr lang="en-US" dirty="0"/>
              <a:t>= </a:t>
            </a:r>
            <a:r>
              <a:rPr lang="en-US" dirty="0" err="1"/>
              <a:t>movie_scores</a:t>
            </a:r>
            <a:r>
              <a:rPr lang="en-US" dirty="0"/>
              <a:t>[~</a:t>
            </a:r>
            <a:r>
              <a:rPr lang="en-US" dirty="0" err="1"/>
              <a:t>movie_scores.index.isin</a:t>
            </a:r>
            <a:r>
              <a:rPr lang="en-US" dirty="0"/>
              <a:t>(</a:t>
            </a:r>
            <a:r>
              <a:rPr lang="en-US" dirty="0" err="1"/>
              <a:t>user_rated</a:t>
            </a:r>
            <a:r>
              <a:rPr lang="en-US" dirty="0"/>
              <a:t>)] </a:t>
            </a:r>
            <a:endParaRPr lang="en-US" dirty="0" smtClean="0"/>
          </a:p>
          <a:p>
            <a:pPr marL="411480" lvl="1" indent="0">
              <a:buNone/>
            </a:pPr>
            <a:r>
              <a:rPr lang="en-US" dirty="0" smtClean="0"/>
              <a:t># </a:t>
            </a:r>
            <a:r>
              <a:rPr lang="en-US" dirty="0"/>
              <a:t>Return top N </a:t>
            </a:r>
            <a:endParaRPr lang="en-US" dirty="0" smtClean="0"/>
          </a:p>
          <a:p>
            <a:pPr marL="411480" lvl="1" indent="0">
              <a:buNone/>
            </a:pPr>
            <a:r>
              <a:rPr lang="en-US" dirty="0" smtClean="0"/>
              <a:t>recommendations </a:t>
            </a:r>
            <a:r>
              <a:rPr lang="en-US" dirty="0"/>
              <a:t>= </a:t>
            </a:r>
            <a:r>
              <a:rPr lang="en-US" dirty="0" err="1"/>
              <a:t>unseen.sort_values</a:t>
            </a:r>
            <a:r>
              <a:rPr lang="en-US" dirty="0"/>
              <a:t>('score', ascending=False).head(n)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19275"/>
          </a:xfrm>
        </p:spPr>
        <p:txBody>
          <a:bodyPr/>
          <a:lstStyle/>
          <a:p>
            <a:r>
              <a:rPr lang="en-US" sz="3600" b="1" dirty="0"/>
              <a:t>Hybrid Approach - Combining </a:t>
            </a:r>
            <a:r>
              <a:rPr lang="en-US" sz="3600" b="1" dirty="0" smtClean="0"/>
              <a:t>Models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Why </a:t>
            </a:r>
            <a:r>
              <a:rPr lang="en-US" b="1" dirty="0"/>
              <a:t>Hybrid</a:t>
            </a:r>
            <a:r>
              <a:rPr lang="en-US" b="1" dirty="0" smtClean="0"/>
              <a:t>?</a:t>
            </a:r>
          </a:p>
          <a:p>
            <a:r>
              <a:rPr lang="en-US" b="1" dirty="0" smtClean="0"/>
              <a:t> </a:t>
            </a:r>
            <a:r>
              <a:rPr lang="en-US" dirty="0" smtClean="0"/>
              <a:t>Each Method Has Limitations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252319"/>
              </p:ext>
            </p:extLst>
          </p:nvPr>
        </p:nvGraphicFramePr>
        <p:xfrm>
          <a:off x="838200" y="2779202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Aspect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Content-Based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Collaborative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Cold-start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 Good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Poor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Serendipity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Poor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✅ Good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Interpretability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 Good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Poor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Data Requirements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 Low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High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Diversity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❌ Low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✅ High 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903"/>
            <a:ext cx="7620000" cy="715618"/>
          </a:xfrm>
        </p:spPr>
        <p:txBody>
          <a:bodyPr/>
          <a:lstStyle/>
          <a:p>
            <a:r>
              <a:rPr lang="en-US" sz="4000" b="1" dirty="0"/>
              <a:t>Hybrid Results - Comparison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539" y="894521"/>
            <a:ext cx="8073886" cy="5377070"/>
          </a:xfrm>
        </p:spPr>
        <p:txBody>
          <a:bodyPr/>
          <a:lstStyle/>
          <a:p>
            <a:r>
              <a:rPr lang="en-US" sz="2000" b="1" dirty="0" smtClean="0"/>
              <a:t>Test </a:t>
            </a:r>
            <a:r>
              <a:rPr lang="en-US" sz="2000" b="1" dirty="0"/>
              <a:t>Case: User 1, "Toy </a:t>
            </a:r>
            <a:r>
              <a:rPr lang="en-US" sz="2000" b="1" dirty="0" smtClean="0"/>
              <a:t>Story“</a:t>
            </a:r>
          </a:p>
          <a:p>
            <a:pPr marL="114300" indent="0">
              <a:buNone/>
            </a:pPr>
            <a:r>
              <a:rPr lang="en-US" sz="1800" b="1" dirty="0" smtClean="0">
                <a:sym typeface="Wingdings" pitchFamily="2" charset="2"/>
              </a:rPr>
              <a:t></a:t>
            </a:r>
            <a:r>
              <a:rPr lang="en-US" sz="1800" b="1" dirty="0" smtClean="0"/>
              <a:t>Content-Based Recommendations     </a:t>
            </a:r>
            <a:r>
              <a:rPr lang="en-US" sz="1800" dirty="0" smtClean="0"/>
              <a:t>  </a:t>
            </a:r>
            <a:r>
              <a:rPr lang="en-US" sz="1800" dirty="0" smtClean="0">
                <a:sym typeface="Wingdings" pitchFamily="2" charset="2"/>
              </a:rPr>
              <a:t></a:t>
            </a:r>
            <a:r>
              <a:rPr lang="en-US" sz="1800" b="1" dirty="0" smtClean="0"/>
              <a:t>Collaborative </a:t>
            </a:r>
            <a:r>
              <a:rPr lang="en-US" sz="1800" b="1" dirty="0"/>
              <a:t>Recommendations</a:t>
            </a:r>
            <a:r>
              <a:rPr lang="en-US" sz="1800" dirty="0"/>
              <a:t> </a:t>
            </a:r>
            <a:endParaRPr lang="en-US" sz="1800" dirty="0" smtClean="0"/>
          </a:p>
          <a:p>
            <a:r>
              <a:rPr lang="en-US" b="1" dirty="0" smtClean="0"/>
              <a:t> 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sz="2000" b="1" dirty="0" smtClean="0"/>
              <a:t>Hybrid Recommendations (Weighted)</a:t>
            </a:r>
            <a:r>
              <a:rPr lang="en-US" b="1" dirty="0" smtClean="0"/>
              <a:t> Rank </a:t>
            </a:r>
          </a:p>
          <a:p>
            <a:r>
              <a:rPr lang="en-US" b="1" dirty="0" smtClean="0"/>
              <a:t>                                                            </a:t>
            </a:r>
            <a:r>
              <a:rPr lang="en-US" sz="2000" b="1" dirty="0" smtClean="0"/>
              <a:t>Result</a:t>
            </a:r>
            <a:r>
              <a:rPr lang="en-US" sz="2000" dirty="0" smtClean="0"/>
              <a:t>: More diverse, still relevant!</a:t>
            </a:r>
          </a:p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452264"/>
              </p:ext>
            </p:extLst>
          </p:nvPr>
        </p:nvGraphicFramePr>
        <p:xfrm>
          <a:off x="559904" y="1802959"/>
          <a:ext cx="35052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61"/>
                <a:gridCol w="1769165"/>
                <a:gridCol w="9839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Rank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Movie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Score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Bug's Life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0.89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Monsters, Inc.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0.84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Finding </a:t>
                      </a:r>
                      <a:r>
                        <a:rPr lang="en-US" dirty="0" err="1" smtClean="0"/>
                        <a:t>Nemo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0.81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</a:t>
                      </a:r>
                      <a:r>
                        <a:rPr lang="en-US" dirty="0" err="1" smtClean="0"/>
                        <a:t>Incredibles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Toy Story 2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871236"/>
              </p:ext>
            </p:extLst>
          </p:nvPr>
        </p:nvGraphicFramePr>
        <p:xfrm>
          <a:off x="4502426" y="1732060"/>
          <a:ext cx="35052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061"/>
                <a:gridCol w="1769165"/>
                <a:gridCol w="9839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Rank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Movie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Score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Dark Knight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0.92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Inception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0.88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Fight Club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0.85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Matrix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Star Wars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95133"/>
              </p:ext>
            </p:extLst>
          </p:nvPr>
        </p:nvGraphicFramePr>
        <p:xfrm>
          <a:off x="854766" y="4473933"/>
          <a:ext cx="3505200" cy="2225040"/>
        </p:xfrm>
        <a:graphic>
          <a:graphicData uri="http://schemas.openxmlformats.org/drawingml/2006/table">
            <a:tbl>
              <a:tblPr firstRow="1" bandRow="1"/>
              <a:tblGrid>
                <a:gridCol w="754380"/>
                <a:gridCol w="1767840"/>
                <a:gridCol w="982980"/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 smtClean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Rank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57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 smtClean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Movie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57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smtClean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Score </a:t>
                      </a: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57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1 </a:t>
                      </a: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 smtClean="0"/>
                        <a:t>The Dark Knight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0.86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2  </a:t>
                      </a: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 smtClean="0">
                          <a:solidFill>
                            <a:srgbClr val="2F2B20"/>
                          </a:solidFill>
                          <a:effectLst/>
                          <a:latin typeface="+mn-lt"/>
                        </a:rPr>
                        <a:t>A Bug's Life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0.85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 smtClean="0"/>
                        <a:t>Inception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0.84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4</a:t>
                      </a: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 smtClean="0"/>
                        <a:t>Monsters, Inc.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0.82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5</a:t>
                      </a:r>
                      <a:endParaRPr lang="en-US" sz="1800" b="0" i="0" u="none" strike="noStrike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dirty="0" smtClean="0"/>
                        <a:t>The Matrix 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 smtClean="0">
                          <a:solidFill>
                            <a:srgbClr val="2F2B20"/>
                          </a:solidFill>
                          <a:effectLst/>
                          <a:latin typeface="Calibri"/>
                        </a:rPr>
                        <a:t>0.81</a:t>
                      </a:r>
                      <a:endParaRPr lang="en-US" sz="1800" b="0" i="0" u="none" strike="noStrike" dirty="0">
                        <a:effectLst/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1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You!</a:t>
            </a:r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Any Question?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99</TotalTime>
  <Words>859</Words>
  <Application>Microsoft Office PowerPoint</Application>
  <PresentationFormat>On-screen Show (4:3)</PresentationFormat>
  <Paragraphs>224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Adjacency</vt:lpstr>
      <vt:lpstr>Hybrid Movie Recommendation System</vt:lpstr>
      <vt:lpstr>What are Recommender Systems?</vt:lpstr>
      <vt:lpstr>Types of Recommender Systems</vt:lpstr>
      <vt:lpstr>Key Algorithms Used</vt:lpstr>
      <vt:lpstr>Dataset Overview</vt:lpstr>
      <vt:lpstr>Content-Based Filtering - TF-IDF &amp; Cosine Similarity</vt:lpstr>
      <vt:lpstr>Collaborative Filtering-KMeans Clustering</vt:lpstr>
      <vt:lpstr>Collaborative Filtering- KNN Model</vt:lpstr>
      <vt:lpstr>Collaborative Filtering: Making Predictions  The Recommendation Process</vt:lpstr>
      <vt:lpstr>Hybrid Approach - Combining Models</vt:lpstr>
      <vt:lpstr>Hybrid Results - Comparison</vt:lpstr>
      <vt:lpstr>Thank You!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Movie Recommendation System</dc:title>
  <dc:creator>ELITEBOOK</dc:creator>
  <dc:description>generated using python-pptx</dc:description>
  <cp:lastModifiedBy>ELITEBOOK</cp:lastModifiedBy>
  <cp:revision>12</cp:revision>
  <dcterms:created xsi:type="dcterms:W3CDTF">2013-01-27T09:14:16Z</dcterms:created>
  <dcterms:modified xsi:type="dcterms:W3CDTF">2026-06-22T09:36:43Z</dcterms:modified>
</cp:coreProperties>
</file>